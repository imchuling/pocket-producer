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16378994064687" /><Relationship Type="http://schemas.openxmlformats.org/officeDocument/2006/relationships/extended-properties" Target="/docProps/app.xml" Id="Re850706ffa2949ec" /><Relationship Type="http://schemas.openxmlformats.org/officeDocument/2006/relationships/officeDocument" Target="/ppt/presentation.xml" Id="R17546410ff9e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5e06e530b41fa"/>
  </p:sldMasterIdLst>
  <p:notesMasterIdLst>
    <p:notesMasterId xmlns:r="http://schemas.openxmlformats.org/officeDocument/2006/relationships" r:id="R45eb90647fbe4147"/>
  </p:notesMasterIdLst>
  <p:sldIdLst>
    <p:sldId xmlns:r="http://schemas.openxmlformats.org/officeDocument/2006/relationships" id="256" r:id="R93590270a1d443d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1539656db4b4b" /><Relationship Type="http://schemas.openxmlformats.org/officeDocument/2006/relationships/slideMaster" Target="/ppt/slideMasters/slideMaster1.xml" Id="Rfc75e06e530b41fa" /><Relationship Type="http://schemas.openxmlformats.org/officeDocument/2006/relationships/notesMaster" Target="/ppt/notesMasters/notesMaster1.xml" Id="R45eb90647fbe4147" /><Relationship Type="http://schemas.openxmlformats.org/officeDocument/2006/relationships/presProps" Target="/ppt/presProps.xml" Id="R36f94842768b498b" /><Relationship Type="http://schemas.openxmlformats.org/officeDocument/2006/relationships/tableStyles" Target="/ppt/tableStyles.xml" Id="R789f74eaa17c44a8" /><Relationship Type="http://schemas.openxmlformats.org/officeDocument/2006/relationships/slide" Target="/ppt/slides/slide1.xml" Id="R93590270a1d4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36c58faa57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61dacf33664189" /><Relationship Type="http://schemas.openxmlformats.org/officeDocument/2006/relationships/notesMaster" Target="/ppt/notesMasters/notesMaster1.xml" Id="R35fc90ea8a214e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e1cabf426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f65bc71254048" /><Relationship Type="http://schemas.openxmlformats.org/officeDocument/2006/relationships/slideLayout" Target="/ppt/slideLayouts/slideLayout1.xml" Id="Rf0df7e870b5d4e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f7e870b5d4e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b9b0df6c4166" /><Relationship Type="http://schemas.openxmlformats.org/officeDocument/2006/relationships/notesSlide" Target="/ppt/notesSlides/notesSlide1.xml" Id="Rcdcd3821fae4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E6592-C12F-4515-B268-88F1CB54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62B"/>
                </a:solidFill>
              </a:defRPr>
            </a:pPr>
            <a:r>
              <a:rPr sz="2250" b="1">
                <a:solidFill>
                  <a:srgbClr val="20262B"/>
                </a:solidFill>
              </a:rPr>
              <a:t>Pocket Producer: session-conditioned retrieval as a user-controlled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BF2B-782D-4ADE-B7ED-6A0B698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727A"/>
                </a:solidFill>
              </a:defRPr>
            </a:pPr>
            <a:r>
              <a:rPr sz="1200" b="0">
                <a:solidFill>
                  <a:srgbClr val="69727A"/>
                </a:solidFill>
              </a:rPr>
              <a:t>All boxes, labels, arrows, and panels are editable PowerPoint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A5A00-DAB3-4DBE-BFED-AEE957B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4001750" cy="657225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2B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8383A-47B2-4696-BB96-29E0696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476625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9050">
            <a:solidFill>
              <a:srgbClr val="477D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0C208-1F92-4460-B0A6-C312625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8102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0EAF5"/>
          </a:solidFill>
          <a:ln xmlns:a="http://schemas.openxmlformats.org/drawingml/2006/main" w="19050">
            <a:solidFill>
              <a:srgbClr val="6555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E87B2-DA0D-4D0E-96D5-01A006C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000250"/>
            <a:ext cx="3286125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BECEE"/>
          </a:solidFill>
          <a:ln xmlns:a="http://schemas.openxmlformats.org/drawingml/2006/main" w="19050">
            <a:solidFill>
              <a:srgbClr val="C967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1F953-2502-45D8-9A4D-6D27B491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3525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DF4E4"/>
          </a:solidFill>
          <a:ln xmlns:a="http://schemas.openxmlformats.org/drawingml/2006/main" w="19050">
            <a:solidFill>
              <a:srgbClr val="789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D759-56A9-4C46-8565-B37126F8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77DC0"/>
                </a:solidFill>
              </a:defRPr>
            </a:pPr>
            <a:r>
              <a:rPr sz="1425" b="1">
                <a:solidFill>
                  <a:srgbClr val="477DC0"/>
                </a:solidFill>
              </a:rPr>
              <a:t>LIVE SESSION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74704-12DB-4B8E-ADE0-A9D11E43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58F"/>
                </a:solidFill>
              </a:defRPr>
            </a:pPr>
            <a:r>
              <a:rPr sz="1425" b="1">
                <a:solidFill>
                  <a:srgbClr val="65558F"/>
                </a:solidFill>
              </a:rPr>
              <a:t>SYSTEM PROPOSES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97369-729E-4B89-9232-DDA8BE9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76D"/>
                </a:solidFill>
              </a:defRPr>
            </a:pPr>
            <a:r>
              <a:rPr sz="1425" b="1">
                <a:solidFill>
                  <a:srgbClr val="C9676D"/>
                </a:solidFill>
              </a:rPr>
              <a:t>MUSICIAN DECIDES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85B08-AAFB-4844-94FC-2755AB7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38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89B55"/>
                </a:solidFill>
              </a:defRPr>
            </a:pPr>
            <a:r>
              <a:rPr sz="1350" b="1">
                <a:solidFill>
                  <a:srgbClr val="789B55"/>
                </a:solidFill>
              </a:rPr>
              <a:t>OFFLINE COLD-START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CAE98-E132-4248-8D3F-CFFA174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38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89B55"/>
                </a:solidFill>
              </a:defRPr>
            </a:pPr>
            <a:r>
              <a:rPr sz="1200" b="1">
                <a:solidFill>
                  <a:srgbClr val="789B55"/>
                </a:solidFill>
              </a:rPr>
              <a:t>TRAINING PROXY — never a live-session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19AA6-8228-4207-835C-2869E002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5715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D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FD681-8D26-49D5-8412-82DB2C2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Similarity proposes; the musician decides what comes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B7BEB-8F40-4822-9105-C2E403B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1905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9B69"/>
          </a:solidFill>
          <a:ln xmlns:a="http://schemas.openxmlformats.org/drawingml/2006/main" w="0">
            <a:solidFill>
              <a:srgbClr val="ED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1B3BC-9D3B-405A-9BCA-5AB67C6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DC0"/>
          </a:solidFill>
          <a:ln xmlns:a="http://schemas.openxmlformats.org/drawingml/2006/main" w="0">
            <a:solidFill>
              <a:srgbClr val="477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31F02-580B-4B99-BE57-C621073F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558F"/>
          </a:solidFill>
          <a:ln xmlns:a="http://schemas.openxmlformats.org/drawingml/2006/main" w="0">
            <a:solidFill>
              <a:srgbClr val="6555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AC445-FD39-45C9-AFE5-4C57D1E0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558F"/>
          </a:solidFill>
          <a:ln xmlns:a="http://schemas.openxmlformats.org/drawingml/2006/main" w="0">
            <a:solidFill>
              <a:srgbClr val="6555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41EDB-96AB-4735-8624-B700FCC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558F"/>
          </a:solidFill>
          <a:ln xmlns:a="http://schemas.openxmlformats.org/drawingml/2006/main" w="0">
            <a:solidFill>
              <a:srgbClr val="6555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19D2A-C76B-4B27-83C4-18F920B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558F"/>
          </a:solidFill>
          <a:ln xmlns:a="http://schemas.openxmlformats.org/drawingml/2006/main" w="0">
            <a:solidFill>
              <a:srgbClr val="6555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70841-CD16-49BD-B92B-DE02781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676D"/>
          </a:solidFill>
          <a:ln xmlns:a="http://schemas.openxmlformats.org/drawingml/2006/main" w="0">
            <a:solidFill>
              <a:srgbClr val="C967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9FF47-097C-45E6-BC30-EC3D5D7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5242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676D"/>
          </a:solidFill>
          <a:ln xmlns:a="http://schemas.openxmlformats.org/drawingml/2006/main" w="0">
            <a:solidFill>
              <a:srgbClr val="C96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65C79-AFCA-44EB-BFC3-5AAEB6E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3531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B55"/>
          </a:solidFill>
          <a:ln xmlns:a="http://schemas.openxmlformats.org/drawingml/2006/main" w="0">
            <a:solidFill>
              <a:srgbClr val="789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5B367-70C4-4598-89F2-A2EE64C6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3531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B55"/>
          </a:solidFill>
          <a:ln xmlns:a="http://schemas.openxmlformats.org/drawingml/2006/main" w="0">
            <a:solidFill>
              <a:srgbClr val="789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3E63BA-6CB7-420B-890D-D34E97B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3531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B55"/>
          </a:solidFill>
          <a:ln xmlns:a="http://schemas.openxmlformats.org/drawingml/2006/main" w="0">
            <a:solidFill>
              <a:srgbClr val="789B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76118-EFE1-4E7B-ADD9-5C930D9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9050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89B55"/>
          </a:solidFill>
          <a:ln xmlns:a="http://schemas.openxmlformats.org/drawingml/2006/main" w="0">
            <a:solidFill>
              <a:srgbClr val="789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C6FED-9F2F-4C75-A406-30E2112D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048250"/>
            <a:ext cx="1905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9676D"/>
          </a:solidFill>
          <a:ln xmlns:a="http://schemas.openxmlformats.org/drawingml/2006/main" w="0">
            <a:solidFill>
              <a:srgbClr val="C9676D"/>
            </a:solidFill>
            <a:prstDash val="solid"/>
          </a:ln>
        </p:spPr>
      </p:sp>
      <p:sp>
        <p:nvSpPr>
          <p:cNvPr id="28" name="audiotool">
            <a:extLst xmlns:a="http://schemas.openxmlformats.org/drawingml/2006/main">
              <a:ext uri="{FF2B5EF4-FFF2-40B4-BE49-F238E27FC236}">
                <a16:creationId xmlns:a16="http://schemas.microsoft.com/office/drawing/2014/main" id="{A5C8C0A6-E84D-46C6-9E00-A071848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7D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Audiotool / Nexus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tracks · regions · intent</a:t>
            </a:r>
          </a:p>
        </p:txBody>
      </p:sp>
      <p:sp>
        <p:nvSpPr>
          <p:cNvPr id="29" name="fingerprint">
            <a:extLst xmlns:a="http://schemas.openxmlformats.org/drawingml/2006/main">
              <a:ext uri="{FF2B5EF4-FFF2-40B4-BE49-F238E27FC236}">
                <a16:creationId xmlns:a16="http://schemas.microsoft.com/office/drawing/2014/main" id="{2705ABD5-B79B-4044-B6EE-BD0104F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7D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Session fingerprint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tempo · CLAP · tags</a:t>
            </a:r>
          </a:p>
        </p:txBody>
      </p:sp>
      <p:sp>
        <p:nvSpPr>
          <p:cNvPr id="30" name="candidate-library">
            <a:extLst xmlns:a="http://schemas.openxmlformats.org/drawingml/2006/main">
              <a:ext uri="{FF2B5EF4-FFF2-40B4-BE49-F238E27FC236}">
                <a16:creationId xmlns:a16="http://schemas.microsoft.com/office/drawing/2014/main" id="{57DD5C53-899E-471F-A3DD-A1229C8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58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Candidate library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audio fragments</a:t>
            </a:r>
          </a:p>
        </p:txBody>
      </p:sp>
      <p:sp>
        <p:nvSpPr>
          <p:cNvPr id="31" name="signal-vector">
            <a:extLst xmlns:a="http://schemas.openxmlformats.org/drawingml/2006/main">
              <a:ext uri="{FF2B5EF4-FFF2-40B4-BE49-F238E27FC236}">
                <a16:creationId xmlns:a16="http://schemas.microsoft.com/office/drawing/2014/main" id="{3C17675E-1BE0-4CED-8E15-B7F4F16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58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Five-signal vector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φ(s,x) ∈ R⁵</a:t>
            </a:r>
          </a:p>
        </p:txBody>
      </p:sp>
      <p:sp>
        <p:nvSpPr>
          <p:cNvPr id="32" name="ranker">
            <a:extLst xmlns:a="http://schemas.openxmlformats.org/drawingml/2006/main">
              <a:ext uri="{FF2B5EF4-FFF2-40B4-BE49-F238E27FC236}">
                <a16:creationId xmlns:a16="http://schemas.microsoft.com/office/drawing/2014/main" id="{7AB23200-4DA0-4A34-ADB0-F86291E6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58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Ranker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rules / selectable fusion</a:t>
            </a:r>
          </a:p>
        </p:txBody>
      </p:sp>
      <p:sp>
        <p:nvSpPr>
          <p:cNvPr id="33" name="evidence">
            <a:extLst xmlns:a="http://schemas.openxmlformats.org/drawingml/2006/main">
              <a:ext uri="{FF2B5EF4-FFF2-40B4-BE49-F238E27FC236}">
                <a16:creationId xmlns:a16="http://schemas.microsoft.com/office/drawing/2014/main" id="{BDE3816C-78FB-442B-89EA-8547676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58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Evidence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per-signal rationale</a:t>
            </a:r>
          </a:p>
        </p:txBody>
      </p:sp>
      <p:sp>
        <p:nvSpPr>
          <p:cNvPr id="34" name="preview">
            <a:extLst xmlns:a="http://schemas.openxmlformats.org/drawingml/2006/main">
              <a:ext uri="{FF2B5EF4-FFF2-40B4-BE49-F238E27FC236}">
                <a16:creationId xmlns:a16="http://schemas.microsoft.com/office/drawing/2014/main" id="{603660DF-690B-4723-800D-37CA195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95625"/>
            <a:ext cx="133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67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Preview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audition before commit</a:t>
            </a:r>
          </a:p>
        </p:txBody>
      </p:sp>
      <p:sp>
        <p:nvSpPr>
          <p:cNvPr id="35" name="transaction">
            <a:extLst xmlns:a="http://schemas.openxmlformats.org/drawingml/2006/main">
              <a:ext uri="{FF2B5EF4-FFF2-40B4-BE49-F238E27FC236}">
                <a16:creationId xmlns:a16="http://schemas.microsoft.com/office/drawing/2014/main" id="{F7031A5F-8064-400A-83BE-5D8EA04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95625"/>
            <a:ext cx="1143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67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Insert / undo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reversible transaction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F65BBD-3963-434B-82C3-397481A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676D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396F5A-0598-4D12-A875-AAFEA29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86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676D"/>
                </a:solidFill>
              </a:defRPr>
            </a:pPr>
            <a:r>
              <a:rPr sz="1050" b="0">
                <a:solidFill>
                  <a:srgbClr val="C9676D"/>
                </a:solidFill>
              </a:rPr>
              <a:t>proposal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F9549-A96B-4DBB-8A7A-C1D0FF6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304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14288">
            <a:solidFill>
              <a:srgbClr val="477DC0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54DC1-0212-4965-A863-8A2CAD6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7DC0"/>
                </a:solidFill>
              </a:defRPr>
            </a:pPr>
            <a:r>
              <a:rPr sz="900" b="1">
                <a:solidFill>
                  <a:srgbClr val="477DC0"/>
                </a:solidFill>
              </a:rPr>
              <a:t>Fallback: no session audio → non-audio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FA249B-8941-46F1-A341-BDC72EA1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6245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AF5"/>
          </a:solidFill>
          <a:ln xmlns:a="http://schemas.openxmlformats.org/drawingml/2006/main" w="14288">
            <a:solidFill>
              <a:srgbClr val="65558F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40C75-53FF-40E8-B835-E4558333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00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58F"/>
                </a:solidFill>
              </a:defRPr>
            </a:pPr>
            <a:r>
              <a:rPr sz="975" b="1">
                <a:solidFill>
                  <a:srgbClr val="65558F"/>
                </a:solidFill>
              </a:rPr>
              <a:t>Ranker signals: cosine · tempo · key · tags · role</a:t>
            </a:r>
          </a:p>
        </p:txBody>
      </p:sp>
      <p:sp>
        <p:nvSpPr>
          <p:cNvPr id="42" name="pack">
            <a:extLst xmlns:a="http://schemas.openxmlformats.org/drawingml/2006/main">
              <a:ext uri="{FF2B5EF4-FFF2-40B4-BE49-F238E27FC236}">
                <a16:creationId xmlns:a16="http://schemas.microsoft.com/office/drawing/2014/main" id="{507EBABB-1E47-4E80-9AAE-3CA334D4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9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Pack co-membership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positive proxy</a:t>
            </a:r>
          </a:p>
        </p:txBody>
      </p:sp>
      <p:sp>
        <p:nvSpPr>
          <p:cNvPr id="43" name="loo">
            <a:extLst xmlns:a="http://schemas.openxmlformats.org/drawingml/2006/main">
              <a:ext uri="{FF2B5EF4-FFF2-40B4-BE49-F238E27FC236}">
                <a16:creationId xmlns:a16="http://schemas.microsoft.com/office/drawing/2014/main" id="{6BC5D3AE-423C-45B2-991D-DC5F7A9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48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9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Leave-one-out pairs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three negative regimes</a:t>
            </a:r>
          </a:p>
        </p:txBody>
      </p:sp>
      <p:sp>
        <p:nvSpPr>
          <p:cNvPr id="44" name="bpr">
            <a:extLst xmlns:a="http://schemas.openxmlformats.org/drawingml/2006/main">
              <a:ext uri="{FF2B5EF4-FFF2-40B4-BE49-F238E27FC236}">
                <a16:creationId xmlns:a16="http://schemas.microsoft.com/office/drawing/2014/main" id="{11ABD771-93D3-4ACE-8C91-C6FBEA6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48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9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Source-grouped BPR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five-signal weights</a:t>
            </a:r>
          </a:p>
        </p:txBody>
      </p:sp>
      <p:sp>
        <p:nvSpPr>
          <p:cNvPr id="45" name="weights">
            <a:extLst xmlns:a="http://schemas.openxmlformats.org/drawingml/2006/main">
              <a:ext uri="{FF2B5EF4-FFF2-40B4-BE49-F238E27FC236}">
                <a16:creationId xmlns:a16="http://schemas.microsoft.com/office/drawing/2014/main" id="{C57389C8-33D3-4182-822D-C20C4FE6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48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9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Export weights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to selectable fusion</a:t>
            </a:r>
          </a:p>
        </p:txBody>
      </p:sp>
      <p:sp>
        <p:nvSpPr>
          <p:cNvPr id="46" name="feedback">
            <a:extLst xmlns:a="http://schemas.openxmlformats.org/drawingml/2006/main">
              <a:ext uri="{FF2B5EF4-FFF2-40B4-BE49-F238E27FC236}">
                <a16:creationId xmlns:a16="http://schemas.microsoft.com/office/drawing/2014/main" id="{620C2D91-3EA6-4462-8DF4-92E7AD3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48375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67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Feedback log</a:t>
            </a:r>
          </a:p>
          <a:p xmlns:a="http://schemas.openxmlformats.org/drawingml/2006/main">
            <a:pPr>
              <a:defRPr sz="1275">
                <a:solidFill>
                  <a:srgbClr val="20262B"/>
                </a:solidFill>
              </a:defRPr>
            </a:pPr>
            <a:r>
              <a:rPr sz="1275">
                <a:solidFill>
                  <a:srgbClr val="20262B"/>
                </a:solidFill>
              </a:rPr>
              <a:t>accept · reject · undo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98C96C-327A-47A8-9571-1410FFA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85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9727A"/>
                </a:solidFill>
              </a:defRPr>
            </a:pPr>
            <a:r>
              <a:rPr sz="1050" b="0">
                <a:solidFill>
                  <a:srgbClr val="69727A"/>
                </a:solidFill>
              </a:rPr>
              <a:t>future personalization</a:t>
            </a:r>
          </a:p>
          <a:p xmlns:a="http://schemas.openxmlformats.org/drawingml/2006/main">
            <a:pPr>
              <a:defRPr sz="1050" b="0">
                <a:solidFill>
                  <a:srgbClr val="69727A"/>
                </a:solidFill>
              </a:defRPr>
            </a:pPr>
            <a:r>
              <a:rPr sz="1050" b="0">
                <a:solidFill>
                  <a:srgbClr val="69727A"/>
                </a:solidFill>
              </a:rPr>
              <a:t>(not evaluated)</a:t>
            </a:r>
          </a:p>
        </p:txBody>
      </p:sp>
    </p:spTree>
    <p:extLst>
      <p:ext uri="{BB962C8B-B14F-4D97-AF65-F5344CB8AC3E}">
        <p14:creationId xmlns:p14="http://schemas.microsoft.com/office/powerpoint/2010/main" val="968732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2026-08-16T16:42:54.0900000Z</dcterms:created>
  <dcterms:modified xsi:type="dcterms:W3CDTF">2026-08-16T16:42:54.0900000Z</dcterms:modified>
</coreProperties>
</file>